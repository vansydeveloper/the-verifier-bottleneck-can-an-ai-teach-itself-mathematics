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2f4e7a83c84eb5" /><Relationship Type="http://schemas.openxmlformats.org/officeDocument/2006/relationships/extended-properties" Target="/docProps/app.xml" Id="R9cdf792e64ee4e65" /><Relationship Type="http://schemas.openxmlformats.org/officeDocument/2006/relationships/officeDocument" Target="/ppt/presentation.xml" Id="R62be8071fc7e4b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ce620fd44a463c"/>
  </p:sldMasterIdLst>
  <p:notesMasterIdLst>
    <p:notesMasterId xmlns:r="http://schemas.openxmlformats.org/officeDocument/2006/relationships" r:id="Rf1c1a8b56744432f"/>
  </p:notesMasterIdLst>
  <p:sldIdLst>
    <p:sldId xmlns:r="http://schemas.openxmlformats.org/officeDocument/2006/relationships" id="256" r:id="R24748b5036d74030"/>
    <p:sldId xmlns:r="http://schemas.openxmlformats.org/officeDocument/2006/relationships" id="257" r:id="Rb6b74377ad1d4f58"/>
    <p:sldId xmlns:r="http://schemas.openxmlformats.org/officeDocument/2006/relationships" id="258" r:id="Ra0045d4e46704909"/>
    <p:sldId xmlns:r="http://schemas.openxmlformats.org/officeDocument/2006/relationships" id="259" r:id="R39277975eae84e1a"/>
    <p:sldId xmlns:r="http://schemas.openxmlformats.org/officeDocument/2006/relationships" id="260" r:id="R1256bec6acef48c6"/>
    <p:sldId xmlns:r="http://schemas.openxmlformats.org/officeDocument/2006/relationships" id="261" r:id="Raaa928f89a694314"/>
    <p:sldId xmlns:r="http://schemas.openxmlformats.org/officeDocument/2006/relationships" id="262" r:id="Rd8dd6dfe70ec4c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c7a9a0231d47c4" /><Relationship Type="http://schemas.openxmlformats.org/officeDocument/2006/relationships/slideMaster" Target="/ppt/slideMasters/slideMaster1.xml" Id="Rc5ce620fd44a463c" /><Relationship Type="http://schemas.openxmlformats.org/officeDocument/2006/relationships/notesMaster" Target="/ppt/notesMasters/notesMaster1.xml" Id="Rf1c1a8b56744432f" /><Relationship Type="http://schemas.openxmlformats.org/officeDocument/2006/relationships/presProps" Target="/ppt/presProps.xml" Id="R06542dc2a38c4e85" /><Relationship Type="http://schemas.openxmlformats.org/officeDocument/2006/relationships/tableStyles" Target="/ppt/tableStyles.xml" Id="R941ebb760df84a09" /><Relationship Type="http://schemas.openxmlformats.org/officeDocument/2006/relationships/slide" Target="/ppt/slides/slide1.xml" Id="R24748b5036d74030" /><Relationship Type="http://schemas.openxmlformats.org/officeDocument/2006/relationships/slide" Target="/ppt/slides/slide2.xml" Id="Rb6b74377ad1d4f58" /><Relationship Type="http://schemas.openxmlformats.org/officeDocument/2006/relationships/slide" Target="/ppt/slides/slide3.xml" Id="Ra0045d4e46704909" /><Relationship Type="http://schemas.openxmlformats.org/officeDocument/2006/relationships/slide" Target="/ppt/slides/slide4.xml" Id="R39277975eae84e1a" /><Relationship Type="http://schemas.openxmlformats.org/officeDocument/2006/relationships/slide" Target="/ppt/slides/slide5.xml" Id="R1256bec6acef48c6" /><Relationship Type="http://schemas.openxmlformats.org/officeDocument/2006/relationships/slide" Target="/ppt/slides/slide6.xml" Id="Raaa928f89a694314" /><Relationship Type="http://schemas.openxmlformats.org/officeDocument/2006/relationships/slide" Target="/ppt/slides/slide7.xml" Id="Rd8dd6dfe70ec4c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9f12dec93e48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6f7729cf664b05" /><Relationship Type="http://schemas.openxmlformats.org/officeDocument/2006/relationships/notesMaster" Target="/ppt/notesMasters/notesMaster1.xml" Id="R23ea4cde134f47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b34dfe6f824399" /><Relationship Type="http://schemas.openxmlformats.org/officeDocument/2006/relationships/notesMaster" Target="/ppt/notesMasters/notesMaster1.xml" Id="Rc70fe1abd6ca42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b792b43b8a4141" /><Relationship Type="http://schemas.openxmlformats.org/officeDocument/2006/relationships/notesMaster" Target="/ppt/notesMasters/notesMaster1.xml" Id="R51908b1d27f04d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d4afd4d6ed46e7" /><Relationship Type="http://schemas.openxmlformats.org/officeDocument/2006/relationships/notesMaster" Target="/ppt/notesMasters/notesMaster1.xml" Id="R337219fb94574e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1ab1af5e1c44fb" /><Relationship Type="http://schemas.openxmlformats.org/officeDocument/2006/relationships/notesMaster" Target="/ppt/notesMasters/notesMaster1.xml" Id="R018bdef2c3fc4c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b1695fe0d44615" /><Relationship Type="http://schemas.openxmlformats.org/officeDocument/2006/relationships/notesMaster" Target="/ppt/notesMasters/notesMaster1.xml" Id="Re0247961ea714f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47cc7009c14b22" /><Relationship Type="http://schemas.openxmlformats.org/officeDocument/2006/relationships/notesMaster" Target="/ppt/notesMasters/notesMaster1.xml" Id="Raf3a58b8fc7d4f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a950feded41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6d68d04dd846d8" /><Relationship Type="http://schemas.openxmlformats.org/officeDocument/2006/relationships/slideLayout" Target="/ppt/slideLayouts/slideLayout1.xml" Id="R8dbe4ace730a49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be4ace730a49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a8b6a68d24f58" /><Relationship Type="http://schemas.openxmlformats.org/officeDocument/2006/relationships/notesSlide" Target="/ppt/notesSlides/notesSlide1.xml" Id="R9d834096598640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1ec9225a6429f" /><Relationship Type="http://schemas.openxmlformats.org/officeDocument/2006/relationships/notesSlide" Target="/ppt/notesSlides/notesSlide2.xml" Id="R459feabf9a9044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b2ec7fa8845fb" /><Relationship Type="http://schemas.openxmlformats.org/officeDocument/2006/relationships/notesSlide" Target="/ppt/notesSlides/notesSlide3.xml" Id="Re0b2e5d0400449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04c48aeaf41ec" /><Relationship Type="http://schemas.openxmlformats.org/officeDocument/2006/relationships/notesSlide" Target="/ppt/notesSlides/notesSlide4.xml" Id="R63c02e0f839143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007b6b57d4e00" /><Relationship Type="http://schemas.openxmlformats.org/officeDocument/2006/relationships/notesSlide" Target="/ppt/notesSlides/notesSlide5.xml" Id="Rd7521dcfd7ad4a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5f158297e4fbf" /><Relationship Type="http://schemas.openxmlformats.org/officeDocument/2006/relationships/notesSlide" Target="/ppt/notesSlides/notesSlide6.xml" Id="Rf2d44f61b9b646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4deced1224755" /><Relationship Type="http://schemas.openxmlformats.org/officeDocument/2006/relationships/notesSlide" Target="/ppt/notesSlides/notesSlide7.xml" Id="R6b034c5eb3fa4b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-0">
            <a:extLst xmlns:a="http://schemas.openxmlformats.org/drawingml/2006/main">
              <a:ext uri="{FF2B5EF4-FFF2-40B4-BE49-F238E27FC236}">
                <a16:creationId xmlns:a16="http://schemas.microsoft.com/office/drawing/2014/main" id="{ECB1E543-0AAD-4B41-8BC7-50E62F9D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SMILES 2026</a:t>
            </a:r>
          </a:p>
        </p:txBody>
      </p:sp>
      <p:cxnSp>
        <p:nvCxnSpPr>
          <p:cNvPr id="23" name="rule-1"/>
          <p:cNvCxnSpPr/>
          <p:nvPr/>
        </p:nvCxnSpPr>
        <p:spPr>
          <a:xfrm xmlns:a="http://schemas.openxmlformats.org/drawingml/2006/main">
            <a:off x="609600" y="81915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A"/>
            </a:solidFill>
            <a:prstDash val="solid"/>
          </a:ln>
        </p:spPr>
      </p:cxn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9AB0671-90E0-4AFC-A0BB-B70116DE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8953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63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THE VERIFIER</a:t>
            </a:r>
          </a:p>
          <a:p xmlns:a="http://schemas.openxmlformats.org/drawingml/2006/main">
            <a:pPr algn="l">
              <a:buNone/>
              <a:defRPr sz="63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BOTTLENECK</a:t>
            </a:r>
          </a:p>
        </p:txBody>
      </p:sp>
      <p:cxnSp>
        <p:nvCxnSpPr>
          <p:cNvPr id="25" name="rule-2"/>
          <p:cNvCxnSpPr/>
          <p:nvPr/>
        </p:nvCxnSpPr>
        <p:spPr>
          <a:xfrm xmlns:a="http://schemas.openxmlformats.org/drawingml/2006/main">
            <a:off x="609600" y="4953000"/>
            <a:ext cx="619125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318"/>
            </a:solidFill>
            <a:prstDash val="solid"/>
          </a:ln>
        </p:spPr>
      </p:cxnSp>
      <p:sp>
        <p:nvSpPr>
          <p:cNvPr id="5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D2B493F2-1980-4585-A1CA-BA822EBA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Can filtering self-generated work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create new held-out success?</a:t>
            </a:r>
          </a:p>
        </p:txBody>
      </p:sp>
    </p:spTree>
    <p:extLst>
      <p:ext uri="{BB962C8B-B14F-4D97-AF65-F5344CB8AC3E}">
        <p14:creationId xmlns:p14="http://schemas.microsoft.com/office/powerpoint/2010/main" val="19201376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E5F54580-B4DF-4B33-B286-CF624E9D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The question</a:t>
            </a:r>
          </a:p>
        </p:txBody>
      </p:sp>
      <p:cxnSp>
        <p:nvCxnSpPr>
          <p:cNvPr id="23" name="rule-4"/>
          <p:cNvCxnSpPr/>
          <p:nvPr/>
        </p:nvCxnSpPr>
        <p:spPr>
          <a:xfrm xmlns:a="http://schemas.openxmlformats.org/drawingml/2006/main">
            <a:off x="609600" y="13335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A"/>
            </a:solidFill>
            <a:prstDash val="solid"/>
          </a:ln>
        </p:spPr>
      </p:cxnSp>
      <p:sp>
        <p:nvSpPr>
          <p:cNvPr id="3" name="text-5">
            <a:extLst xmlns:a="http://schemas.openxmlformats.org/drawingml/2006/main">
              <a:ext uri="{FF2B5EF4-FFF2-40B4-BE49-F238E27FC236}">
                <a16:creationId xmlns:a16="http://schemas.microsoft.com/office/drawing/2014/main" id="{B78755D6-0345-416B-83A7-05E5F258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71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Can a verifier turn a model's own samples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into useful training data?</a:t>
            </a:r>
          </a:p>
        </p:txBody>
      </p:sp>
      <p:cxnSp>
        <p:nvCxnSpPr>
          <p:cNvPr id="25" name="rule-6"/>
          <p:cNvCxnSpPr/>
          <p:nvPr/>
        </p:nvCxnSpPr>
        <p:spPr>
          <a:xfrm xmlns:a="http://schemas.openxmlformats.org/drawingml/2006/main">
            <a:off x="609600" y="3886200"/>
            <a:ext cx="1676400" cy="953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5" name="text-7">
            <a:extLst xmlns:a="http://schemas.openxmlformats.org/drawingml/2006/main">
              <a:ext uri="{FF2B5EF4-FFF2-40B4-BE49-F238E27FC236}">
                <a16:creationId xmlns:a16="http://schemas.microsoft.com/office/drawing/2014/main" id="{8737FE82-B1B5-454E-A724-10C41D0D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876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A fixed held-out budget separates learning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from merely making known answers easier to sample.</a:t>
            </a:r>
          </a:p>
        </p:txBody>
      </p:sp>
    </p:spTree>
    <p:extLst>
      <p:ext uri="{BB962C8B-B14F-4D97-AF65-F5344CB8AC3E}">
        <p14:creationId xmlns:p14="http://schemas.microsoft.com/office/powerpoint/2010/main" val="16515052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0968E7FE-A1DD-408E-94FB-F179D2E4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The task</a:t>
            </a:r>
          </a:p>
        </p:txBody>
      </p:sp>
      <p:cxnSp>
        <p:nvCxnSpPr>
          <p:cNvPr id="33" name="rule-9"/>
          <p:cNvCxnSpPr/>
          <p:nvPr/>
        </p:nvCxnSpPr>
        <p:spPr>
          <a:xfrm xmlns:a="http://schemas.openxmlformats.org/drawingml/2006/main">
            <a:off x="609600" y="13335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A"/>
            </a:solidFill>
            <a:prstDash val="solid"/>
          </a:ln>
        </p:spPr>
      </p:cxnSp>
      <p:sp>
        <p:nvSpPr>
          <p:cNvPr id="3" name="text-10">
            <a:extLst xmlns:a="http://schemas.openxmlformats.org/drawingml/2006/main">
              <a:ext uri="{FF2B5EF4-FFF2-40B4-BE49-F238E27FC236}">
                <a16:creationId xmlns:a16="http://schemas.microsoft.com/office/drawing/2014/main" id="{BFF3AB45-6CCB-47C7-8FD7-80763C08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Canonical affine-map compositions mod 101.</a:t>
            </a:r>
          </a:p>
        </p:txBody>
      </p:sp>
      <p:sp>
        <p:nvSpPr>
          <p:cNvPr id="4" name="text-11">
            <a:extLst xmlns:a="http://schemas.openxmlformats.org/drawingml/2006/main">
              <a:ext uri="{FF2B5EF4-FFF2-40B4-BE49-F238E27FC236}">
                <a16:creationId xmlns:a16="http://schemas.microsoft.com/office/drawing/2014/main" id="{545C53AF-C1BB-403E-92D3-770A83E5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733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F6875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5F6875"/>
                </a:solidFill>
                <a:latin typeface="Menlo"/>
                <a:ea typeface="Menlo"/>
                <a:cs typeface="Menlo"/>
              </a:rPr>
              <a:t>g_i(x) = a_i x + b_i  (mod 101)</a:t>
            </a:r>
          </a:p>
        </p:txBody>
      </p:sp>
      <p:sp>
        <p:nvSpPr>
          <p:cNvPr id="5" name="text-12">
            <a:extLst xmlns:a="http://schemas.openxmlformats.org/drawingml/2006/main">
              <a:ext uri="{FF2B5EF4-FFF2-40B4-BE49-F238E27FC236}">
                <a16:creationId xmlns:a16="http://schemas.microsoft.com/office/drawing/2014/main" id="{EEBBBC69-F5F5-40B3-A1DE-1C20ACCD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318"/>
                </a:solidFill>
                <a:latin typeface="Menlo"/>
                <a:ea typeface="Menlo"/>
                <a:cs typeface="Menlo"/>
              </a:defRPr>
            </a:pPr>
            <a:r>
              <a:rPr sz="2550" b="1">
                <a:solidFill>
                  <a:srgbClr val="111318"/>
                </a:solidFill>
                <a:latin typeface="Menlo"/>
                <a:ea typeface="Menlo"/>
                <a:cs typeface="Menlo"/>
              </a:rPr>
              <a:t>example: g3(g1(g4(x)))  -&gt;  ANSWER = (A, B)</a:t>
            </a:r>
          </a:p>
        </p:txBody>
      </p:sp>
      <p:cxnSp>
        <p:nvCxnSpPr>
          <p:cNvPr id="37" name="rule-13"/>
          <p:cNvCxnSpPr/>
          <p:nvPr/>
        </p:nvCxnSpPr>
        <p:spPr>
          <a:xfrm xmlns:a="http://schemas.openxmlformats.org/drawingml/2006/main">
            <a:off x="609600" y="4657725"/>
            <a:ext cx="62865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7" name="text-14">
            <a:extLst xmlns:a="http://schemas.openxmlformats.org/drawingml/2006/main">
              <a:ext uri="{FF2B5EF4-FFF2-40B4-BE49-F238E27FC236}">
                <a16:creationId xmlns:a16="http://schemas.microsoft.com/office/drawing/2014/main" id="{21FAB905-C0EC-4CB3-BA43-5B06688B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10,100 possible full-map answers. Exact check.</a:t>
            </a:r>
          </a:p>
        </p:txBody>
      </p:sp>
    </p:spTree>
    <p:extLst>
      <p:ext uri="{BB962C8B-B14F-4D97-AF65-F5344CB8AC3E}">
        <p14:creationId xmlns:p14="http://schemas.microsoft.com/office/powerpoint/2010/main" val="14524844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1E8D3471-C503-46F8-83C2-704F7EC7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The experiment</a:t>
            </a:r>
          </a:p>
        </p:txBody>
      </p:sp>
      <p:cxnSp>
        <p:nvCxnSpPr>
          <p:cNvPr id="35" name="rule-16"/>
          <p:cNvCxnSpPr/>
          <p:nvPr/>
        </p:nvCxnSpPr>
        <p:spPr>
          <a:xfrm xmlns:a="http://schemas.openxmlformats.org/drawingml/2006/main">
            <a:off x="609600" y="13335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A"/>
            </a:solidFill>
            <a:prstDash val="solid"/>
          </a:ln>
        </p:spPr>
      </p:cxnSp>
      <p:sp>
        <p:nvSpPr>
          <p:cNvPr id="3" name="text-17">
            <a:extLst xmlns:a="http://schemas.openxmlformats.org/drawingml/2006/main">
              <a:ext uri="{FF2B5EF4-FFF2-40B4-BE49-F238E27FC236}">
                <a16:creationId xmlns:a16="http://schemas.microsoft.com/office/drawing/2014/main" id="{E7BF512C-69AA-4A1F-8AA5-5C556455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Hold everything fixed. Change two things.</a:t>
            </a:r>
          </a:p>
        </p:txBody>
      </p:sp>
      <p:cxnSp>
        <p:nvCxnSpPr>
          <p:cNvPr id="37" name="rule-18"/>
          <p:cNvCxnSpPr/>
          <p:nvPr/>
        </p:nvCxnSpPr>
        <p:spPr>
          <a:xfrm xmlns:a="http://schemas.openxmlformats.org/drawingml/2006/main">
            <a:off x="914400" y="3543300"/>
            <a:ext cx="9286875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318"/>
            </a:solidFill>
            <a:prstDash val="solid"/>
          </a:ln>
        </p:spPr>
      </p:cxnSp>
      <p:sp>
        <p:nvSpPr>
          <p:cNvPr id="5" name="dot-19">
            <a:extLst xmlns:a="http://schemas.openxmlformats.org/drawingml/2006/main">
              <a:ext uri="{FF2B5EF4-FFF2-40B4-BE49-F238E27FC236}">
                <a16:creationId xmlns:a16="http://schemas.microsoft.com/office/drawing/2014/main" id="{961B14B2-2573-4310-8A99-6BF9DC98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6" name="dot-20">
            <a:extLst xmlns:a="http://schemas.openxmlformats.org/drawingml/2006/main">
              <a:ext uri="{FF2B5EF4-FFF2-40B4-BE49-F238E27FC236}">
                <a16:creationId xmlns:a16="http://schemas.microsoft.com/office/drawing/2014/main" id="{A9B10A7E-CF21-458D-8ACA-A4D80738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86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dot-21">
            <a:extLst xmlns:a="http://schemas.openxmlformats.org/drawingml/2006/main">
              <a:ext uri="{FF2B5EF4-FFF2-40B4-BE49-F238E27FC236}">
                <a16:creationId xmlns:a16="http://schemas.microsoft.com/office/drawing/2014/main" id="{C1DC4B2B-0FF7-4FE7-AC38-51BFE091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86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dot-22">
            <a:extLst xmlns:a="http://schemas.openxmlformats.org/drawingml/2006/main">
              <a:ext uri="{FF2B5EF4-FFF2-40B4-BE49-F238E27FC236}">
                <a16:creationId xmlns:a16="http://schemas.microsoft.com/office/drawing/2014/main" id="{A48B5BFE-6628-4552-84A9-85180C33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9" name="dot-23">
            <a:extLst xmlns:a="http://schemas.openxmlformats.org/drawingml/2006/main">
              <a:ext uri="{FF2B5EF4-FFF2-40B4-BE49-F238E27FC236}">
                <a16:creationId xmlns:a16="http://schemas.microsoft.com/office/drawing/2014/main" id="{1F405ACB-DD81-43FE-B00B-79F867C6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486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10" name="text-24">
            <a:extLst xmlns:a="http://schemas.openxmlformats.org/drawingml/2006/main">
              <a:ext uri="{FF2B5EF4-FFF2-40B4-BE49-F238E27FC236}">
                <a16:creationId xmlns:a16="http://schemas.microsoft.com/office/drawing/2014/main" id="{755D3D36-911D-474B-AE95-A184A5DF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3860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base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4E7CB945-CF72-4657-90A7-76F39144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3860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K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answers</a:t>
            </a:r>
          </a:p>
        </p:txBody>
      </p:sp>
      <p:sp>
        <p:nvSpPr>
          <p:cNvPr id="12" name="text-26">
            <a:extLst xmlns:a="http://schemas.openxmlformats.org/drawingml/2006/main">
              <a:ext uri="{FF2B5EF4-FFF2-40B4-BE49-F238E27FC236}">
                <a16:creationId xmlns:a16="http://schemas.microsoft.com/office/drawing/2014/main" id="{22DC3696-8008-431E-A608-BD5D5658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52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filter</a:t>
            </a:r>
          </a:p>
        </p:txBody>
      </p:sp>
      <p:sp>
        <p:nvSpPr>
          <p:cNvPr id="13" name="text-27">
            <a:extLst xmlns:a="http://schemas.openxmlformats.org/drawingml/2006/main">
              <a:ext uri="{FF2B5EF4-FFF2-40B4-BE49-F238E27FC236}">
                <a16:creationId xmlns:a16="http://schemas.microsoft.com/office/drawing/2014/main" id="{E915A097-4035-440E-A41D-66D7882E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529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update</a:t>
            </a:r>
          </a:p>
        </p:txBody>
      </p:sp>
      <p:sp>
        <p:nvSpPr>
          <p:cNvPr id="14" name="text-28">
            <a:extLst xmlns:a="http://schemas.openxmlformats.org/drawingml/2006/main">
              <a:ext uri="{FF2B5EF4-FFF2-40B4-BE49-F238E27FC236}">
                <a16:creationId xmlns:a16="http://schemas.microsoft.com/office/drawing/2014/main" id="{BD62E846-E984-4E58-99BF-7B17DBE2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3860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fresh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tasks</a:t>
            </a:r>
          </a:p>
        </p:txBody>
      </p:sp>
      <p:sp>
        <p:nvSpPr>
          <p:cNvPr id="15" name="text-29">
            <a:extLst xmlns:a="http://schemas.openxmlformats.org/drawingml/2006/main">
              <a:ext uri="{FF2B5EF4-FFF2-40B4-BE49-F238E27FC236}">
                <a16:creationId xmlns:a16="http://schemas.microsoft.com/office/drawing/2014/main" id="{DB11B04B-6612-4A40-A42E-9536E38D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29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candidate budget</a:t>
            </a:r>
          </a:p>
        </p:txBody>
      </p:sp>
      <p:sp>
        <p:nvSpPr>
          <p:cNvPr id="16" name="text-30">
            <a:extLst xmlns:a="http://schemas.openxmlformats.org/drawingml/2006/main">
              <a:ext uri="{FF2B5EF4-FFF2-40B4-BE49-F238E27FC236}">
                <a16:creationId xmlns:a16="http://schemas.microsoft.com/office/drawing/2014/main" id="{23D191E3-46E2-433B-A891-55D9D76E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292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verifier signal</a:t>
            </a:r>
          </a:p>
        </p:txBody>
      </p:sp>
      <p:sp>
        <p:nvSpPr>
          <p:cNvPr id="17" name="text-31">
            <a:extLst xmlns:a="http://schemas.openxmlformats.org/drawingml/2006/main">
              <a:ext uri="{FF2B5EF4-FFF2-40B4-BE49-F238E27FC236}">
                <a16:creationId xmlns:a16="http://schemas.microsoft.com/office/drawing/2014/main" id="{46639CE5-6E31-40F7-8604-BB99E083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Every comparison starts from the same saved candidate pool.</a:t>
            </a:r>
          </a:p>
        </p:txBody>
      </p:sp>
    </p:spTree>
    <p:extLst>
      <p:ext uri="{BB962C8B-B14F-4D97-AF65-F5344CB8AC3E}">
        <p14:creationId xmlns:p14="http://schemas.microsoft.com/office/powerpoint/2010/main" val="9122439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2">
            <a:extLst xmlns:a="http://schemas.openxmlformats.org/drawingml/2006/main">
              <a:ext uri="{FF2B5EF4-FFF2-40B4-BE49-F238E27FC236}">
                <a16:creationId xmlns:a16="http://schemas.microsoft.com/office/drawing/2014/main" id="{040E773D-1883-4705-AA5E-63A1C2AB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The controls</a:t>
            </a:r>
          </a:p>
        </p:txBody>
      </p:sp>
      <p:cxnSp>
        <p:nvCxnSpPr>
          <p:cNvPr id="83" name="rule-33"/>
          <p:cNvCxnSpPr/>
          <p:nvPr/>
        </p:nvCxnSpPr>
        <p:spPr>
          <a:xfrm xmlns:a="http://schemas.openxmlformats.org/drawingml/2006/main">
            <a:off x="609600" y="13335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A"/>
            </a:solidFill>
            <a:prstDash val="solid"/>
          </a:ln>
        </p:spPr>
      </p:cxnSp>
      <p:sp>
        <p:nvSpPr>
          <p:cNvPr id="3" name="text-34">
            <a:extLst xmlns:a="http://schemas.openxmlformats.org/drawingml/2006/main">
              <a:ext uri="{FF2B5EF4-FFF2-40B4-BE49-F238E27FC236}">
                <a16:creationId xmlns:a16="http://schemas.microsoft.com/office/drawing/2014/main" id="{96976FEF-F649-41B5-9300-F38E2529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Same model. Same saved samples. Same training budget.</a:t>
            </a:r>
          </a:p>
        </p:txBody>
      </p:sp>
      <p:cxnSp>
        <p:nvCxnSpPr>
          <p:cNvPr id="85" name="rule-35"/>
          <p:cNvCxnSpPr/>
          <p:nvPr/>
        </p:nvCxnSpPr>
        <p:spPr>
          <a:xfrm xmlns:a="http://schemas.openxmlformats.org/drawingml/2006/main">
            <a:off x="609600" y="2476500"/>
            <a:ext cx="2333625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318"/>
            </a:solidFill>
            <a:prstDash val="solid"/>
          </a:ln>
        </p:spPr>
      </p:cxnSp>
      <p:sp>
        <p:nvSpPr>
          <p:cNvPr id="5" name="text-36">
            <a:extLst xmlns:a="http://schemas.openxmlformats.org/drawingml/2006/main">
              <a:ext uri="{FF2B5EF4-FFF2-40B4-BE49-F238E27FC236}">
                <a16:creationId xmlns:a16="http://schemas.microsoft.com/office/drawing/2014/main" id="{0214DFFB-B4DC-4FBF-B33F-3E0735BC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BASE</a:t>
            </a:r>
          </a:p>
        </p:txBody>
      </p:sp>
      <p:sp>
        <p:nvSpPr>
          <p:cNvPr id="6" name="text-37">
            <a:extLst xmlns:a="http://schemas.openxmlformats.org/drawingml/2006/main">
              <a:ext uri="{FF2B5EF4-FFF2-40B4-BE49-F238E27FC236}">
                <a16:creationId xmlns:a16="http://schemas.microsoft.com/office/drawing/2014/main" id="{D3E4089C-C257-47CA-A635-87A2584F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no update</a:t>
            </a:r>
          </a:p>
        </p:txBody>
      </p:sp>
      <p:cxnSp>
        <p:nvCxnSpPr>
          <p:cNvPr id="88" name="rule-38"/>
          <p:cNvCxnSpPr/>
          <p:nvPr/>
        </p:nvCxnSpPr>
        <p:spPr>
          <a:xfrm xmlns:a="http://schemas.openxmlformats.org/drawingml/2006/main">
            <a:off x="3305175" y="2476500"/>
            <a:ext cx="2333625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8" name="text-39">
            <a:extLst xmlns:a="http://schemas.openxmlformats.org/drawingml/2006/main">
              <a:ext uri="{FF2B5EF4-FFF2-40B4-BE49-F238E27FC236}">
                <a16:creationId xmlns:a16="http://schemas.microsoft.com/office/drawing/2014/main" id="{C19BA93C-7AF6-434D-97A4-6D0C841A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71462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ORACLE</a:t>
            </a:r>
          </a:p>
        </p:txBody>
      </p:sp>
      <p:sp>
        <p:nvSpPr>
          <p:cNvPr id="9" name="text-40">
            <a:extLst xmlns:a="http://schemas.openxmlformats.org/drawingml/2006/main">
              <a:ext uri="{FF2B5EF4-FFF2-40B4-BE49-F238E27FC236}">
                <a16:creationId xmlns:a16="http://schemas.microsoft.com/office/drawing/2014/main" id="{856FD2FF-A988-488D-9EB5-2E0EC746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385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gold SFT</a:t>
            </a:r>
          </a:p>
        </p:txBody>
      </p:sp>
      <p:cxnSp>
        <p:nvCxnSpPr>
          <p:cNvPr id="91" name="rule-41"/>
          <p:cNvCxnSpPr/>
          <p:nvPr/>
        </p:nvCxnSpPr>
        <p:spPr>
          <a:xfrm xmlns:a="http://schemas.openxmlformats.org/drawingml/2006/main">
            <a:off x="6000750" y="2476500"/>
            <a:ext cx="2333625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1" name="text-42">
            <a:extLst xmlns:a="http://schemas.openxmlformats.org/drawingml/2006/main">
              <a:ext uri="{FF2B5EF4-FFF2-40B4-BE49-F238E27FC236}">
                <a16:creationId xmlns:a16="http://schemas.microsoft.com/office/drawing/2014/main" id="{9EDE9095-6953-4288-BE4C-AA4AE3EC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1462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EXACT</a:t>
            </a:r>
          </a:p>
        </p:txBody>
      </p:sp>
      <p:sp>
        <p:nvSpPr>
          <p:cNvPr id="12" name="text-43">
            <a:extLst xmlns:a="http://schemas.openxmlformats.org/drawingml/2006/main">
              <a:ext uri="{FF2B5EF4-FFF2-40B4-BE49-F238E27FC236}">
                <a16:creationId xmlns:a16="http://schemas.microsoft.com/office/drawing/2014/main" id="{8258087F-8102-4CFC-8B3A-E8B17962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385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exact filter</a:t>
            </a:r>
          </a:p>
        </p:txBody>
      </p:sp>
      <p:cxnSp>
        <p:nvCxnSpPr>
          <p:cNvPr id="94" name="rule-44"/>
          <p:cNvCxnSpPr/>
          <p:nvPr/>
        </p:nvCxnSpPr>
        <p:spPr>
          <a:xfrm xmlns:a="http://schemas.openxmlformats.org/drawingml/2006/main">
            <a:off x="8696325" y="2476500"/>
            <a:ext cx="2333625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318"/>
            </a:solidFill>
            <a:prstDash val="solid"/>
          </a:ln>
        </p:spPr>
      </p:cxnSp>
      <p:sp>
        <p:nvSpPr>
          <p:cNvPr id="14" name="text-45">
            <a:extLst xmlns:a="http://schemas.openxmlformats.org/drawingml/2006/main">
              <a:ext uri="{FF2B5EF4-FFF2-40B4-BE49-F238E27FC236}">
                <a16:creationId xmlns:a16="http://schemas.microsoft.com/office/drawing/2014/main" id="{82191258-8A5A-4126-89DB-5DDBE9BC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71462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RANDOM</a:t>
            </a:r>
          </a:p>
        </p:txBody>
      </p:sp>
      <p:sp>
        <p:nvSpPr>
          <p:cNvPr id="15" name="text-46">
            <a:extLst xmlns:a="http://schemas.openxmlformats.org/drawingml/2006/main">
              <a:ext uri="{FF2B5EF4-FFF2-40B4-BE49-F238E27FC236}">
                <a16:creationId xmlns:a16="http://schemas.microsoft.com/office/drawing/2014/main" id="{F0734273-D262-4F78-A063-71969FE7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238500"/>
            <a:ext cx="233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random filter</a:t>
            </a:r>
          </a:p>
        </p:txBody>
      </p:sp>
      <p:cxnSp>
        <p:nvCxnSpPr>
          <p:cNvPr id="97" name="rule-47"/>
          <p:cNvCxnSpPr/>
          <p:nvPr/>
        </p:nvCxnSpPr>
        <p:spPr>
          <a:xfrm xmlns:a="http://schemas.openxmlformats.org/drawingml/2006/main">
            <a:off x="609600" y="5181600"/>
            <a:ext cx="72390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7" name="text-48">
            <a:extLst xmlns:a="http://schemas.openxmlformats.org/drawingml/2006/main">
              <a:ext uri="{FF2B5EF4-FFF2-40B4-BE49-F238E27FC236}">
                <a16:creationId xmlns:a16="http://schemas.microsoft.com/office/drawing/2014/main" id="{9AE6227A-908F-49F0-AB93-E7D0C980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All labels use held-out pass@16 at a fixed 16-sample test budget.</a:t>
            </a:r>
          </a:p>
        </p:txBody>
      </p:sp>
    </p:spTree>
    <p:extLst>
      <p:ext uri="{BB962C8B-B14F-4D97-AF65-F5344CB8AC3E}">
        <p14:creationId xmlns:p14="http://schemas.microsoft.com/office/powerpoint/2010/main" val="18412961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9">
            <a:extLst xmlns:a="http://schemas.openxmlformats.org/drawingml/2006/main">
              <a:ext uri="{FF2B5EF4-FFF2-40B4-BE49-F238E27FC236}">
                <a16:creationId xmlns:a16="http://schemas.microsoft.com/office/drawing/2014/main" id="{465B099E-8608-40C9-BAC9-AAA85F70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The outcome</a:t>
            </a:r>
          </a:p>
        </p:txBody>
      </p:sp>
      <p:cxnSp>
        <p:nvCxnSpPr>
          <p:cNvPr id="55" name="rule-50"/>
          <p:cNvCxnSpPr/>
          <p:nvPr/>
        </p:nvCxnSpPr>
        <p:spPr>
          <a:xfrm xmlns:a="http://schemas.openxmlformats.org/drawingml/2006/main">
            <a:off x="609600" y="13335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A"/>
            </a:solidFill>
            <a:prstDash val="solid"/>
          </a:ln>
        </p:spPr>
      </p:cxnSp>
      <p:sp>
        <p:nvSpPr>
          <p:cNvPr id="3" name="text-51">
            <a:extLst xmlns:a="http://schemas.openxmlformats.org/drawingml/2006/main">
              <a:ext uri="{FF2B5EF4-FFF2-40B4-BE49-F238E27FC236}">
                <a16:creationId xmlns:a16="http://schemas.microsoft.com/office/drawing/2014/main" id="{6BBCC5E4-0C2C-4B04-BCC8-61E8DAC3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At fixed K_eval = 16:</a:t>
            </a:r>
          </a:p>
        </p:txBody>
      </p:sp>
      <p:cxnSp>
        <p:nvCxnSpPr>
          <p:cNvPr id="57" name="rule-52"/>
          <p:cNvCxnSpPr/>
          <p:nvPr/>
        </p:nvCxnSpPr>
        <p:spPr>
          <a:xfrm xmlns:a="http://schemas.openxmlformats.org/drawingml/2006/main">
            <a:off x="609600" y="2476500"/>
            <a:ext cx="3000375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5" name="text-53">
            <a:extLst xmlns:a="http://schemas.openxmlformats.org/drawingml/2006/main">
              <a:ext uri="{FF2B5EF4-FFF2-40B4-BE49-F238E27FC236}">
                <a16:creationId xmlns:a16="http://schemas.microsoft.com/office/drawing/2014/main" id="{B02FCA44-430B-4EA7-BC63-847CA438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EXPANSION</a:t>
            </a:r>
          </a:p>
        </p:txBody>
      </p:sp>
      <p:sp>
        <p:nvSpPr>
          <p:cNvPr id="6" name="text-54">
            <a:extLst xmlns:a="http://schemas.openxmlformats.org/drawingml/2006/main">
              <a:ext uri="{FF2B5EF4-FFF2-40B4-BE49-F238E27FC236}">
                <a16:creationId xmlns:a16="http://schemas.microsoft.com/office/drawing/2014/main" id="{046BA22A-F77B-4DC9-99B3-F5D6419E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000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pass@16 rises;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net gain &gt; loss</a:t>
            </a:r>
          </a:p>
        </p:txBody>
      </p:sp>
      <p:cxnSp>
        <p:nvCxnSpPr>
          <p:cNvPr id="60" name="rule-55"/>
          <p:cNvCxnSpPr/>
          <p:nvPr/>
        </p:nvCxnSpPr>
        <p:spPr>
          <a:xfrm xmlns:a="http://schemas.openxmlformats.org/drawingml/2006/main">
            <a:off x="4533900" y="2476500"/>
            <a:ext cx="3000375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318"/>
            </a:solidFill>
            <a:prstDash val="solid"/>
          </a:ln>
        </p:spPr>
      </p:cxnSp>
      <p:sp>
        <p:nvSpPr>
          <p:cNvPr id="8" name="text-56">
            <a:extLst xmlns:a="http://schemas.openxmlformats.org/drawingml/2006/main">
              <a:ext uri="{FF2B5EF4-FFF2-40B4-BE49-F238E27FC236}">
                <a16:creationId xmlns:a16="http://schemas.microsoft.com/office/drawing/2014/main" id="{316DC281-C828-430B-922A-5C39BAE2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14625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SHARPENING</a:t>
            </a:r>
          </a:p>
        </p:txBody>
      </p:sp>
      <p:sp>
        <p:nvSpPr>
          <p:cNvPr id="9" name="text-57">
            <a:extLst xmlns:a="http://schemas.openxmlformats.org/drawingml/2006/main">
              <a:ext uri="{FF2B5EF4-FFF2-40B4-BE49-F238E27FC236}">
                <a16:creationId xmlns:a16="http://schemas.microsoft.com/office/drawing/2014/main" id="{1178913F-73B7-4986-9EDF-07CB222F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38500"/>
            <a:ext cx="3000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pass@1 rises;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pass@16 is flat</a:t>
            </a:r>
          </a:p>
        </p:txBody>
      </p:sp>
      <p:cxnSp>
        <p:nvCxnSpPr>
          <p:cNvPr id="63" name="rule-58"/>
          <p:cNvCxnSpPr/>
          <p:nvPr/>
        </p:nvCxnSpPr>
        <p:spPr>
          <a:xfrm xmlns:a="http://schemas.openxmlformats.org/drawingml/2006/main">
            <a:off x="8458200" y="2476500"/>
            <a:ext cx="26670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C3B35"/>
            </a:solidFill>
            <a:prstDash val="solid"/>
          </a:ln>
        </p:spPr>
      </p:cxnSp>
      <p:sp>
        <p:nvSpPr>
          <p:cNvPr id="11" name="text-59">
            <a:extLst xmlns:a="http://schemas.openxmlformats.org/drawingml/2006/main">
              <a:ext uri="{FF2B5EF4-FFF2-40B4-BE49-F238E27FC236}">
                <a16:creationId xmlns:a16="http://schemas.microsoft.com/office/drawing/2014/main" id="{5A0F3FDA-76F7-4233-AA59-BEB2EC90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146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C3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C3B35"/>
                </a:solidFill>
                <a:latin typeface="Helvetica Neue"/>
                <a:ea typeface="Helvetica Neue"/>
                <a:cs typeface="Helvetica Neue"/>
              </a:rPr>
              <a:t>COLLAPSE</a:t>
            </a:r>
          </a:p>
        </p:txBody>
      </p:sp>
      <p:sp>
        <p:nvSpPr>
          <p:cNvPr id="12" name="text-60">
            <a:extLst xmlns:a="http://schemas.openxmlformats.org/drawingml/2006/main">
              <a:ext uri="{FF2B5EF4-FFF2-40B4-BE49-F238E27FC236}">
                <a16:creationId xmlns:a16="http://schemas.microsoft.com/office/drawing/2014/main" id="{A1719275-0A67-41C1-B5F1-3278C3B4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pass@16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falls</a:t>
            </a:r>
          </a:p>
        </p:txBody>
      </p:sp>
      <p:sp>
        <p:nvSpPr>
          <p:cNvPr id="13" name="text-61">
            <a:extLst xmlns:a="http://schemas.openxmlformats.org/drawingml/2006/main">
              <a:ext uri="{FF2B5EF4-FFF2-40B4-BE49-F238E27FC236}">
                <a16:creationId xmlns:a16="http://schemas.microsoft.com/office/drawing/2014/main" id="{253A872B-E068-48B4-AA5D-46B8E6E1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Predeclared paired uncertainty; anything else is inconclusive.</a:t>
            </a:r>
          </a:p>
        </p:txBody>
      </p:sp>
    </p:spTree>
    <p:extLst>
      <p:ext uri="{BB962C8B-B14F-4D97-AF65-F5344CB8AC3E}">
        <p14:creationId xmlns:p14="http://schemas.microsoft.com/office/powerpoint/2010/main" val="8647152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2">
            <a:extLst xmlns:a="http://schemas.openxmlformats.org/drawingml/2006/main">
              <a:ext uri="{FF2B5EF4-FFF2-40B4-BE49-F238E27FC236}">
                <a16:creationId xmlns:a16="http://schemas.microsoft.com/office/drawing/2014/main" id="{6FA77686-394F-454F-B804-B1382443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Four next steps</a:t>
            </a:r>
          </a:p>
        </p:txBody>
      </p:sp>
      <p:cxnSp>
        <p:nvCxnSpPr>
          <p:cNvPr id="113" name="rule-63"/>
          <p:cNvCxnSpPr/>
          <p:nvPr/>
        </p:nvCxnSpPr>
        <p:spPr>
          <a:xfrm xmlns:a="http://schemas.openxmlformats.org/drawingml/2006/main">
            <a:off x="609600" y="1333500"/>
            <a:ext cx="109728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A"/>
            </a:solidFill>
            <a:prstDash val="solid"/>
          </a:ln>
        </p:spPr>
      </p:cxnSp>
      <p:sp>
        <p:nvSpPr>
          <p:cNvPr id="3" name="text-64">
            <a:extLst xmlns:a="http://schemas.openxmlformats.org/drawingml/2006/main">
              <a:ext uri="{FF2B5EF4-FFF2-40B4-BE49-F238E27FC236}">
                <a16:creationId xmlns:a16="http://schemas.microsoft.com/office/drawing/2014/main" id="{9AAA85E1-CD94-4341-A010-A8932D2F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1. Agree</a:t>
            </a:r>
          </a:p>
        </p:txBody>
      </p:sp>
      <p:sp>
        <p:nvSpPr>
          <p:cNvPr id="4" name="text-65">
            <a:extLst xmlns:a="http://schemas.openxmlformats.org/drawingml/2006/main">
              <a:ext uri="{FF2B5EF4-FFF2-40B4-BE49-F238E27FC236}">
                <a16:creationId xmlns:a16="http://schemas.microsoft.com/office/drawing/2014/main" id="{7AB35ED4-7F20-44DA-99F0-3912094C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76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Task + split</a:t>
            </a:r>
          </a:p>
        </p:txBody>
      </p:sp>
      <p:cxnSp>
        <p:nvCxnSpPr>
          <p:cNvPr id="116" name="rule-66"/>
          <p:cNvCxnSpPr/>
          <p:nvPr/>
        </p:nvCxnSpPr>
        <p:spPr>
          <a:xfrm xmlns:a="http://schemas.openxmlformats.org/drawingml/2006/main">
            <a:off x="609600" y="2809875"/>
            <a:ext cx="3762375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A"/>
            </a:solidFill>
            <a:prstDash val="solid"/>
          </a:ln>
        </p:spPr>
      </p:cxnSp>
      <p:sp>
        <p:nvSpPr>
          <p:cNvPr id="6" name="text-67">
            <a:extLst xmlns:a="http://schemas.openxmlformats.org/drawingml/2006/main">
              <a:ext uri="{FF2B5EF4-FFF2-40B4-BE49-F238E27FC236}">
                <a16:creationId xmlns:a16="http://schemas.microsoft.com/office/drawing/2014/main" id="{B0917D72-78B5-4836-B0BF-EE20343F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76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Model + compute</a:t>
            </a:r>
          </a:p>
        </p:txBody>
      </p:sp>
      <p:cxnSp>
        <p:nvCxnSpPr>
          <p:cNvPr id="118" name="rule-68"/>
          <p:cNvCxnSpPr/>
          <p:nvPr/>
        </p:nvCxnSpPr>
        <p:spPr>
          <a:xfrm xmlns:a="http://schemas.openxmlformats.org/drawingml/2006/main">
            <a:off x="609600" y="3419475"/>
            <a:ext cx="3762375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A"/>
            </a:solidFill>
            <a:prstDash val="solid"/>
          </a:ln>
        </p:spPr>
      </p:cxnSp>
      <p:sp>
        <p:nvSpPr>
          <p:cNvPr id="8" name="text-69">
            <a:extLst xmlns:a="http://schemas.openxmlformats.org/drawingml/2006/main">
              <a:ext uri="{FF2B5EF4-FFF2-40B4-BE49-F238E27FC236}">
                <a16:creationId xmlns:a16="http://schemas.microsoft.com/office/drawing/2014/main" id="{7340DB96-C00B-4D48-BD64-37241F4D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376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Controls + metric</a:t>
            </a:r>
          </a:p>
        </p:txBody>
      </p:sp>
      <p:cxnSp>
        <p:nvCxnSpPr>
          <p:cNvPr id="120" name="rule-70"/>
          <p:cNvCxnSpPr/>
          <p:nvPr/>
        </p:nvCxnSpPr>
        <p:spPr>
          <a:xfrm xmlns:a="http://schemas.openxmlformats.org/drawingml/2006/main">
            <a:off x="609600" y="4029075"/>
            <a:ext cx="3762375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DD3DA"/>
            </a:solidFill>
            <a:prstDash val="solid"/>
          </a:ln>
        </p:spPr>
      </p:cxnSp>
      <p:sp>
        <p:nvSpPr>
          <p:cNvPr id="10" name="text-71">
            <a:extLst xmlns:a="http://schemas.openxmlformats.org/drawingml/2006/main">
              <a:ext uri="{FF2B5EF4-FFF2-40B4-BE49-F238E27FC236}">
                <a16:creationId xmlns:a16="http://schemas.microsoft.com/office/drawing/2014/main" id="{5CE587FF-E0D2-48DC-BD1A-FBD2348D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76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Success + stop rule</a:t>
            </a:r>
          </a:p>
        </p:txBody>
      </p:sp>
      <p:sp>
        <p:nvSpPr>
          <p:cNvPr id="11" name="text-72">
            <a:extLst xmlns:a="http://schemas.openxmlformats.org/drawingml/2006/main">
              <a:ext uri="{FF2B5EF4-FFF2-40B4-BE49-F238E27FC236}">
                <a16:creationId xmlns:a16="http://schemas.microsoft.com/office/drawing/2014/main" id="{1C00D716-1776-43FE-A1BE-810C36AF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430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Then</a:t>
            </a:r>
          </a:p>
        </p:txBody>
      </p:sp>
      <p:cxnSp>
        <p:nvCxnSpPr>
          <p:cNvPr id="123" name="rule-73"/>
          <p:cNvCxnSpPr/>
          <p:nvPr/>
        </p:nvCxnSpPr>
        <p:spPr>
          <a:xfrm xmlns:a="http://schemas.openxmlformats.org/drawingml/2006/main">
            <a:off x="6438900" y="3181350"/>
            <a:ext cx="41148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318"/>
            </a:solidFill>
            <a:prstDash val="solid"/>
          </a:ln>
        </p:spPr>
      </p:cxnSp>
      <p:sp>
        <p:nvSpPr>
          <p:cNvPr id="13" name="dot-74">
            <a:extLst xmlns:a="http://schemas.openxmlformats.org/drawingml/2006/main">
              <a:ext uri="{FF2B5EF4-FFF2-40B4-BE49-F238E27FC236}">
                <a16:creationId xmlns:a16="http://schemas.microsoft.com/office/drawing/2014/main" id="{7E364E8D-7ABC-41D4-ADF8-42C38ED1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24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14" name="text-75">
            <a:extLst xmlns:a="http://schemas.openxmlformats.org/drawingml/2006/main">
              <a:ext uri="{FF2B5EF4-FFF2-40B4-BE49-F238E27FC236}">
                <a16:creationId xmlns:a16="http://schemas.microsoft.com/office/drawing/2014/main" id="{3F763546-66C1-4ABC-B531-B8E5D563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384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2. PREPARE</a:t>
            </a:r>
          </a:p>
        </p:txBody>
      </p:sp>
      <p:sp>
        <p:nvSpPr>
          <p:cNvPr id="15" name="text-76">
            <a:extLst xmlns:a="http://schemas.openxmlformats.org/drawingml/2006/main">
              <a:ext uri="{FF2B5EF4-FFF2-40B4-BE49-F238E27FC236}">
                <a16:creationId xmlns:a16="http://schemas.microsoft.com/office/drawing/2014/main" id="{B835F9B5-EE52-4E8A-95ED-5EB3A4F0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4330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docs +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manifests</a:t>
            </a:r>
          </a:p>
        </p:txBody>
      </p:sp>
      <p:sp>
        <p:nvSpPr>
          <p:cNvPr id="16" name="dot-77">
            <a:extLst xmlns:a="http://schemas.openxmlformats.org/drawingml/2006/main">
              <a:ext uri="{FF2B5EF4-FFF2-40B4-BE49-F238E27FC236}">
                <a16:creationId xmlns:a16="http://schemas.microsoft.com/office/drawing/2014/main" id="{BCFAB086-806A-4380-A66A-4C6EFEE9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24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text-78">
            <a:extLst xmlns:a="http://schemas.openxmlformats.org/drawingml/2006/main">
              <a:ext uri="{FF2B5EF4-FFF2-40B4-BE49-F238E27FC236}">
                <a16:creationId xmlns:a16="http://schemas.microsoft.com/office/drawing/2014/main" id="{0B92A990-53B8-41FD-93EE-6511461C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384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3. SKETCH</a:t>
            </a:r>
          </a:p>
        </p:txBody>
      </p:sp>
      <p:sp>
        <p:nvSpPr>
          <p:cNvPr id="18" name="text-79">
            <a:extLst xmlns:a="http://schemas.openxmlformats.org/drawingml/2006/main">
              <a:ext uri="{FF2B5EF4-FFF2-40B4-BE49-F238E27FC236}">
                <a16:creationId xmlns:a16="http://schemas.microsoft.com/office/drawing/2014/main" id="{3A850649-3471-4A74-A6A2-A042305F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4330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one clear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script</a:t>
            </a:r>
          </a:p>
        </p:txBody>
      </p:sp>
      <p:sp>
        <p:nvSpPr>
          <p:cNvPr id="19" name="dot-80">
            <a:extLst xmlns:a="http://schemas.openxmlformats.org/drawingml/2006/main">
              <a:ext uri="{FF2B5EF4-FFF2-40B4-BE49-F238E27FC236}">
                <a16:creationId xmlns:a16="http://schemas.microsoft.com/office/drawing/2014/main" id="{0D13B892-5C7F-40C2-B151-94441701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24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solidFill>
              <a:srgbClr val="111318"/>
            </a:solidFill>
            <a:prstDash val="solid"/>
          </a:ln>
        </p:spPr>
      </p:sp>
      <p:sp>
        <p:nvSpPr>
          <p:cNvPr id="20" name="text-81">
            <a:extLst xmlns:a="http://schemas.openxmlformats.org/drawingml/2006/main">
              <a:ext uri="{FF2B5EF4-FFF2-40B4-BE49-F238E27FC236}">
                <a16:creationId xmlns:a16="http://schemas.microsoft.com/office/drawing/2014/main" id="{6A1BAF7C-FFA7-40E2-B61E-B1628819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384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F6875"/>
                </a:solidFill>
                <a:latin typeface="Helvetica Neue"/>
                <a:ea typeface="Helvetica Neue"/>
                <a:cs typeface="Helvetica Neue"/>
              </a:rPr>
              <a:t>4. REVIEW</a:t>
            </a:r>
          </a:p>
        </p:txBody>
      </p:sp>
      <p:sp>
        <p:nvSpPr>
          <p:cNvPr id="21" name="text-82">
            <a:extLst xmlns:a="http://schemas.openxmlformats.org/drawingml/2006/main">
              <a:ext uri="{FF2B5EF4-FFF2-40B4-BE49-F238E27FC236}">
                <a16:creationId xmlns:a16="http://schemas.microsoft.com/office/drawing/2014/main" id="{4D5990D5-3431-4DF7-BDF4-7BFDF367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54330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everyone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</a:rPr>
              <a:t>reviews v1</a:t>
            </a:r>
          </a:p>
        </p:txBody>
      </p:sp>
      <p:cxnSp>
        <p:nvCxnSpPr>
          <p:cNvPr id="133" name="rule-83"/>
          <p:cNvCxnSpPr/>
          <p:nvPr/>
        </p:nvCxnSpPr>
        <p:spPr>
          <a:xfrm xmlns:a="http://schemas.openxmlformats.org/drawingml/2006/main">
            <a:off x="609600" y="5353050"/>
            <a:ext cx="104775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C3B35"/>
            </a:solidFill>
            <a:prstDash val="solid"/>
          </a:ln>
        </p:spPr>
      </p:cxnSp>
      <p:sp>
        <p:nvSpPr>
          <p:cNvPr id="23" name="text-84">
            <a:extLst xmlns:a="http://schemas.openxmlformats.org/drawingml/2006/main">
              <a:ext uri="{FF2B5EF4-FFF2-40B4-BE49-F238E27FC236}">
                <a16:creationId xmlns:a16="http://schemas.microsoft.com/office/drawing/2014/main" id="{F50CF737-9B88-4FC8-9FFA-4FB33EAD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C3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C3B35"/>
                </a:solidFill>
                <a:latin typeface="Helvetica Neue"/>
                <a:ea typeface="Helvetica Neue"/>
                <a:cs typeface="Helvetica Neue"/>
              </a:rPr>
              <a:t>Freeze together, then calibrate and run the core comparison.</a:t>
            </a:r>
          </a:p>
        </p:txBody>
      </p:sp>
    </p:spTree>
    <p:extLst>
      <p:ext uri="{BB962C8B-B14F-4D97-AF65-F5344CB8AC3E}">
        <p14:creationId xmlns:p14="http://schemas.microsoft.com/office/powerpoint/2010/main" val="1279926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2026-07-11T07:31:49.6490000Z</dcterms:created>
  <dcterms:modified xsi:type="dcterms:W3CDTF">2026-07-11T07:31:49.6490000Z</dcterms:modified>
</coreProperties>
</file>